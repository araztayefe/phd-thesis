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5" d="100"/>
          <a:sy n="75" d="100"/>
        </p:scale>
        <p:origin x="902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3535F1-B7BB-32A9-FDED-09DBE877B0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8FEC8D-9837-A962-C37E-36AC56DDCC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D24F5F-B371-5EF0-A046-18A17A8291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AB60A-8BC4-4721-9222-A8B7479D21A3}" type="datetimeFigureOut">
              <a:rPr lang="en-CA" smtClean="0"/>
              <a:t>2024-07-24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0AF26E-855C-699E-4909-0F8FF141B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2B3417-99A6-6A0D-9282-F883E1D838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5F1AD-4D50-447D-BD07-957159E70EC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254025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C3F9A9-6146-0593-25B6-3EC240DD41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CBC797-4C49-F254-E08F-01A98A9E6C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51A3F9-6D97-569B-EED2-0B99B2246D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AB60A-8BC4-4721-9222-A8B7479D21A3}" type="datetimeFigureOut">
              <a:rPr lang="en-CA" smtClean="0"/>
              <a:t>2024-07-24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5D496A-C772-B13F-689B-C47275CC98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726718-AC34-38DC-F1A3-A548E00037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5F1AD-4D50-447D-BD07-957159E70EC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73513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307415-62E1-C810-E504-583451F23C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4C33C3-BC6C-397E-D1FC-668D7F971C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DD9D31-C698-69C7-E585-B20FC0CE73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AB60A-8BC4-4721-9222-A8B7479D21A3}" type="datetimeFigureOut">
              <a:rPr lang="en-CA" smtClean="0"/>
              <a:t>2024-07-24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F72F6E-FD51-C269-D071-53ED5F5E54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A9DDB9-7AE3-318B-9B1F-9F898832D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5F1AD-4D50-447D-BD07-957159E70EC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282926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640A2E-B968-C6A2-1CA0-E55AA6DD96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35E17E-02C8-08F9-949B-3F9141CDF8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4AE04CA-5601-D1A8-5B32-A75D33D30A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A822BA-EBFF-14B3-EBCE-22D239ADB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AB60A-8BC4-4721-9222-A8B7479D21A3}" type="datetimeFigureOut">
              <a:rPr lang="en-CA" smtClean="0"/>
              <a:t>2024-07-24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6C5977-A0CE-3C3F-D44B-3943DF76D1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F9B205-6E93-D1F4-1D5C-BDF4037F28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5F1AD-4D50-447D-BD07-957159E70EC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023971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C954DD-9BF3-1966-57B2-9561EBEA1C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F0FB74-19D8-17C5-6E2C-CBA07740E7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66D907-0DE5-0B9D-4D29-55A4CA3A430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BBFD23-1F59-CA47-3B36-837608FE62F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31261DF-9B47-A9BD-F304-A9383AF4305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C353FD3-02F4-0B56-F77F-51CE8D7895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AB60A-8BC4-4721-9222-A8B7479D21A3}" type="datetimeFigureOut">
              <a:rPr lang="en-CA" smtClean="0"/>
              <a:t>2024-07-24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45993FD-620C-0ECB-4C8F-5016043349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3A2E4E6-EF51-CBBC-72E1-6ED56652BF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5F1AD-4D50-447D-BD07-957159E70EC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141885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717E7F-AA2C-AC4D-0C44-5543DE4BB7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FFFB41F-F0C3-5E6D-B4F4-7294241171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AB60A-8BC4-4721-9222-A8B7479D21A3}" type="datetimeFigureOut">
              <a:rPr lang="en-CA" smtClean="0"/>
              <a:t>2024-07-24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17BCE7A-8489-11A7-3BC0-D434BD0C12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CC9B7AD-7599-616F-9E13-1D318CE0F3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5F1AD-4D50-447D-BD07-957159E70EC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360593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69C5829-BB2C-76C2-DFF8-16E5C7DBFE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AB60A-8BC4-4721-9222-A8B7479D21A3}" type="datetimeFigureOut">
              <a:rPr lang="en-CA" smtClean="0"/>
              <a:t>2024-07-24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09D38EE-451D-CC77-6E69-444AD8E140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840119-AB4C-3CAD-6C81-1EB2E2199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5F1AD-4D50-447D-BD07-957159E70EC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446082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DF92F4-BE1D-870C-51AC-AC88C1A19F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A5BD74-8FD1-7334-3762-26FE658F52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EBCB8F-50ED-356F-7558-C3957733F9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2635FE-00A8-1878-1281-70CD8861A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AB60A-8BC4-4721-9222-A8B7479D21A3}" type="datetimeFigureOut">
              <a:rPr lang="en-CA" smtClean="0"/>
              <a:t>2024-07-24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EE6DFB-B62D-18CC-3A28-6A10CBEF92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CEBBBF-0A52-7467-0597-12CE4252DD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5F1AD-4D50-447D-BD07-957159E70EC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592475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BF303E-95F3-BF0C-4B61-42CA155E9E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CE7F1B4-1801-1337-7945-FC8ECD1327C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BFFE12-0C7D-F948-9174-21E5C5FE92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72D373-6D5F-8FFD-2D1C-749232A17E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AB60A-8BC4-4721-9222-A8B7479D21A3}" type="datetimeFigureOut">
              <a:rPr lang="en-CA" smtClean="0"/>
              <a:t>2024-07-24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10279C-ACEC-A857-2950-A70E23A03E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EDDF2C-E62F-1ADC-F5E8-71821914F3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5F1AD-4D50-447D-BD07-957159E70EC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874459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41E167-07BC-56E6-FF3E-AD589EAC06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A41584-123C-5792-F386-98BB288F8C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0BAC82-3A2B-2E7B-A2E6-EE138E4BAC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AB60A-8BC4-4721-9222-A8B7479D21A3}" type="datetimeFigureOut">
              <a:rPr lang="en-CA" smtClean="0"/>
              <a:t>2024-07-24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32921-2E96-D70F-6CF9-6702ED165B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F3D3F4-6993-83C7-7E78-790EE5B6A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5F1AD-4D50-447D-BD07-957159E70EC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4679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D28043D-E177-C6BA-0BA6-ABCFBAC92F5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EA43D7-4BC1-7B81-B0B9-5133E39C24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22D54E-964B-8E11-406A-52F505AAAF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AB60A-8BC4-4721-9222-A8B7479D21A3}" type="datetimeFigureOut">
              <a:rPr lang="en-CA" smtClean="0"/>
              <a:t>2024-07-24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4783C5-3124-4E96-F991-25FE7256FF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6C7761-7D51-CA59-21AA-54D0D94A3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5F1AD-4D50-447D-BD07-957159E70EC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962734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09E5FB6-C34F-3D82-43E0-623BC33C46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DED9DF-D688-EB59-09FE-482A89ED03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0363B2-FC8D-B918-2D2C-733EE0D2A23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9AAB60A-8BC4-4721-9222-A8B7479D21A3}" type="datetimeFigureOut">
              <a:rPr lang="en-CA" smtClean="0"/>
              <a:t>2024-07-24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BCFF29-FD63-12FB-1BEA-320BD23B6EA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B229CE-1F96-C736-9421-27401C3911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AC5F1AD-4D50-447D-BD07-957159E70EC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52340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FFEAF1FA-C883-177E-5908-321B51A82C0C}"/>
              </a:ext>
            </a:extLst>
          </p:cNvPr>
          <p:cNvSpPr/>
          <p:nvPr/>
        </p:nvSpPr>
        <p:spPr>
          <a:xfrm>
            <a:off x="4998720" y="2555240"/>
            <a:ext cx="640080" cy="64008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60000"/>
                  <a:lumOff val="40000"/>
                  <a:tint val="66000"/>
                  <a:satMod val="160000"/>
                </a:schemeClr>
              </a:gs>
              <a:gs pos="50000">
                <a:schemeClr val="accent1">
                  <a:lumMod val="60000"/>
                  <a:lumOff val="40000"/>
                  <a:tint val="44500"/>
                  <a:satMod val="160000"/>
                </a:schemeClr>
              </a:gs>
              <a:gs pos="100000">
                <a:schemeClr val="accent1">
                  <a:lumMod val="60000"/>
                  <a:lumOff val="40000"/>
                  <a:tint val="23500"/>
                  <a:satMod val="160000"/>
                </a:schemeClr>
              </a:gs>
            </a:gsLst>
            <a:path path="circle">
              <a:fillToRect t="100000" r="100000"/>
            </a:path>
            <a:tileRect l="-100000" b="-100000"/>
          </a:gra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1769B71-DF49-6F68-81F9-75C529F5DF96}"/>
              </a:ext>
            </a:extLst>
          </p:cNvPr>
          <p:cNvSpPr/>
          <p:nvPr/>
        </p:nvSpPr>
        <p:spPr>
          <a:xfrm>
            <a:off x="6781800" y="2555240"/>
            <a:ext cx="640080" cy="64008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60000"/>
                  <a:lumOff val="40000"/>
                  <a:tint val="66000"/>
                  <a:satMod val="160000"/>
                </a:schemeClr>
              </a:gs>
              <a:gs pos="50000">
                <a:schemeClr val="accent1">
                  <a:lumMod val="60000"/>
                  <a:lumOff val="40000"/>
                  <a:tint val="44500"/>
                  <a:satMod val="160000"/>
                </a:schemeClr>
              </a:gs>
              <a:gs pos="100000">
                <a:schemeClr val="accent1">
                  <a:lumMod val="60000"/>
                  <a:lumOff val="40000"/>
                  <a:tint val="23500"/>
                  <a:satMod val="160000"/>
                </a:schemeClr>
              </a:gs>
            </a:gsLst>
            <a:lin ang="16200000" scaled="1"/>
            <a:tileRect/>
          </a:gra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E35A4DF-85CF-3C2D-68D0-17B5FF9BC639}"/>
              </a:ext>
            </a:extLst>
          </p:cNvPr>
          <p:cNvCxnSpPr>
            <a:cxnSpLocks/>
            <a:stCxn id="4" idx="6"/>
            <a:endCxn id="5" idx="2"/>
          </p:cNvCxnSpPr>
          <p:nvPr/>
        </p:nvCxnSpPr>
        <p:spPr>
          <a:xfrm>
            <a:off x="5638800" y="2875280"/>
            <a:ext cx="1143000" cy="0"/>
          </a:xfrm>
          <a:prstGeom prst="straightConnector1">
            <a:avLst/>
          </a:prstGeom>
          <a:ln w="22225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5437B02-F3A3-FF6D-2FBA-60209D9692E3}"/>
              </a:ext>
            </a:extLst>
          </p:cNvPr>
          <p:cNvCxnSpPr>
            <a:cxnSpLocks/>
            <a:endCxn id="4" idx="1"/>
          </p:cNvCxnSpPr>
          <p:nvPr/>
        </p:nvCxnSpPr>
        <p:spPr>
          <a:xfrm>
            <a:off x="4711700" y="2258060"/>
            <a:ext cx="380758" cy="390918"/>
          </a:xfrm>
          <a:prstGeom prst="straightConnector1">
            <a:avLst/>
          </a:prstGeom>
          <a:ln w="22225">
            <a:prstDash val="sysDot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4EEB1FF-C7F2-47D7-6635-528879A45328}"/>
              </a:ext>
            </a:extLst>
          </p:cNvPr>
          <p:cNvCxnSpPr>
            <a:cxnSpLocks/>
            <a:stCxn id="5" idx="7"/>
          </p:cNvCxnSpPr>
          <p:nvPr/>
        </p:nvCxnSpPr>
        <p:spPr>
          <a:xfrm flipV="1">
            <a:off x="7328142" y="2271276"/>
            <a:ext cx="380758" cy="377702"/>
          </a:xfrm>
          <a:prstGeom prst="straightConnector1">
            <a:avLst/>
          </a:prstGeom>
          <a:ln w="22225">
            <a:prstDash val="sysDot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74F87235-D3C1-2AFD-7506-95C3DEC883B5}"/>
              </a:ext>
            </a:extLst>
          </p:cNvPr>
          <p:cNvSpPr txBox="1"/>
          <p:nvPr/>
        </p:nvSpPr>
        <p:spPr>
          <a:xfrm>
            <a:off x="4662731" y="3308804"/>
            <a:ext cx="13003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Pre-synapse</a:t>
            </a:r>
          </a:p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neuron</a:t>
            </a:r>
            <a:endParaRPr lang="en-CA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91D119B-786C-E5E0-B817-F7D1691086C3}"/>
              </a:ext>
            </a:extLst>
          </p:cNvPr>
          <p:cNvSpPr txBox="1"/>
          <p:nvPr/>
        </p:nvSpPr>
        <p:spPr>
          <a:xfrm>
            <a:off x="3923792" y="4469122"/>
            <a:ext cx="6035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</a:t>
            </a:r>
            <a:endParaRPr lang="en-CA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08C30AF-B509-33EC-B3C6-824113B9C8EA}"/>
              </a:ext>
            </a:extLst>
          </p:cNvPr>
          <p:cNvSpPr txBox="1"/>
          <p:nvPr/>
        </p:nvSpPr>
        <p:spPr>
          <a:xfrm>
            <a:off x="3923792" y="5121394"/>
            <a:ext cx="6035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Post</a:t>
            </a:r>
            <a:endParaRPr lang="en-CA" dirty="0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C222B28C-B332-9A76-A889-9464B02495DC}"/>
              </a:ext>
            </a:extLst>
          </p:cNvPr>
          <p:cNvCxnSpPr/>
          <p:nvPr/>
        </p:nvCxnSpPr>
        <p:spPr>
          <a:xfrm>
            <a:off x="5045456" y="4469122"/>
            <a:ext cx="0" cy="184666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74B7F1CD-4D72-0ABE-0A09-ADECF65B5E61}"/>
              </a:ext>
            </a:extLst>
          </p:cNvPr>
          <p:cNvCxnSpPr/>
          <p:nvPr/>
        </p:nvCxnSpPr>
        <p:spPr>
          <a:xfrm>
            <a:off x="5795264" y="4469122"/>
            <a:ext cx="0" cy="184666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3E3CD9EA-26FE-8BE6-96D3-9B8B426FB525}"/>
              </a:ext>
            </a:extLst>
          </p:cNvPr>
          <p:cNvCxnSpPr>
            <a:cxnSpLocks/>
          </p:cNvCxnSpPr>
          <p:nvPr/>
        </p:nvCxnSpPr>
        <p:spPr>
          <a:xfrm>
            <a:off x="7143410" y="4469122"/>
            <a:ext cx="0" cy="184666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C25C0CEE-8097-86E4-7141-A46AE022547D}"/>
              </a:ext>
            </a:extLst>
          </p:cNvPr>
          <p:cNvCxnSpPr>
            <a:cxnSpLocks/>
          </p:cNvCxnSpPr>
          <p:nvPr/>
        </p:nvCxnSpPr>
        <p:spPr>
          <a:xfrm>
            <a:off x="5313594" y="5121394"/>
            <a:ext cx="0" cy="184666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687E427C-5530-5345-6BA1-86490E499B8E}"/>
              </a:ext>
            </a:extLst>
          </p:cNvPr>
          <p:cNvCxnSpPr>
            <a:cxnSpLocks/>
          </p:cNvCxnSpPr>
          <p:nvPr/>
        </p:nvCxnSpPr>
        <p:spPr>
          <a:xfrm>
            <a:off x="6118266" y="5121394"/>
            <a:ext cx="0" cy="184666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951BDC3B-FA2D-1C75-5F6A-B964CC223DE4}"/>
              </a:ext>
            </a:extLst>
          </p:cNvPr>
          <p:cNvCxnSpPr/>
          <p:nvPr/>
        </p:nvCxnSpPr>
        <p:spPr>
          <a:xfrm>
            <a:off x="4711700" y="4653788"/>
            <a:ext cx="3208141" cy="0"/>
          </a:xfrm>
          <a:prstGeom prst="line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62F740F-E2AD-BAF2-BACF-91533562A87F}"/>
              </a:ext>
            </a:extLst>
          </p:cNvPr>
          <p:cNvCxnSpPr/>
          <p:nvPr/>
        </p:nvCxnSpPr>
        <p:spPr>
          <a:xfrm>
            <a:off x="4711699" y="5306060"/>
            <a:ext cx="3208141" cy="0"/>
          </a:xfrm>
          <a:prstGeom prst="line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A725D584-DD28-CDCF-58F6-D9DCFADDFC01}"/>
              </a:ext>
            </a:extLst>
          </p:cNvPr>
          <p:cNvSpPr txBox="1"/>
          <p:nvPr/>
        </p:nvSpPr>
        <p:spPr>
          <a:xfrm>
            <a:off x="3923792" y="1919506"/>
            <a:ext cx="78790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Input </a:t>
            </a:r>
            <a:r>
              <a:rPr lang="en-US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(I)</a:t>
            </a:r>
            <a:endParaRPr lang="en-CA" sz="1600" i="1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DFE5D76-84DA-4E69-B2D0-3902E25A3264}"/>
              </a:ext>
            </a:extLst>
          </p:cNvPr>
          <p:cNvSpPr txBox="1"/>
          <p:nvPr/>
        </p:nvSpPr>
        <p:spPr>
          <a:xfrm>
            <a:off x="7708900" y="1930675"/>
            <a:ext cx="78790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  <a:endParaRPr lang="en-CA" sz="1600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FEA5D99-3C35-2CCD-22D5-A837EFD12FC7}"/>
              </a:ext>
            </a:extLst>
          </p:cNvPr>
          <p:cNvSpPr txBox="1"/>
          <p:nvPr/>
        </p:nvSpPr>
        <p:spPr>
          <a:xfrm>
            <a:off x="5345756" y="2082757"/>
            <a:ext cx="16634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Synaptic weight</a:t>
            </a:r>
          </a:p>
          <a:p>
            <a:pPr algn="ctr"/>
            <a:r>
              <a:rPr lang="en-US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(W)</a:t>
            </a:r>
            <a:endParaRPr lang="en-CA" sz="1600" i="1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0083B00-1C99-5E1C-ED79-9B3AB37FD246}"/>
              </a:ext>
            </a:extLst>
          </p:cNvPr>
          <p:cNvSpPr txBox="1"/>
          <p:nvPr/>
        </p:nvSpPr>
        <p:spPr>
          <a:xfrm>
            <a:off x="5017015" y="2706003"/>
            <a:ext cx="59178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CA" sz="1600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0BD318B-0DF4-C8BC-F2D7-FCF8F1FBD7A9}"/>
              </a:ext>
            </a:extLst>
          </p:cNvPr>
          <p:cNvSpPr txBox="1"/>
          <p:nvPr/>
        </p:nvSpPr>
        <p:spPr>
          <a:xfrm>
            <a:off x="6805184" y="2706003"/>
            <a:ext cx="59178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EEECA8DB-BD6E-5567-75A2-542840C32923}"/>
                  </a:ext>
                </a:extLst>
              </p:cNvPr>
              <p:cNvSpPr txBox="1"/>
              <p:nvPr/>
            </p:nvSpPr>
            <p:spPr>
              <a:xfrm>
                <a:off x="7922740" y="4488172"/>
                <a:ext cx="463325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CA" sz="1600" i="1" dirty="0"/>
              </a:p>
            </p:txBody>
          </p:sp>
        </mc:Choice>
        <mc:Fallback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EEECA8DB-BD6E-5567-75A2-542840C329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2740" y="4488172"/>
                <a:ext cx="463325" cy="33855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F5E5D80F-56BC-2998-FCA8-4F9D532D99DF}"/>
                  </a:ext>
                </a:extLst>
              </p:cNvPr>
              <p:cNvSpPr txBox="1"/>
              <p:nvPr/>
            </p:nvSpPr>
            <p:spPr>
              <a:xfrm>
                <a:off x="7919840" y="5139682"/>
                <a:ext cx="463325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CA" sz="1600" i="1" dirty="0"/>
              </a:p>
            </p:txBody>
          </p:sp>
        </mc:Choice>
        <mc:Fallback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F5E5D80F-56BC-2998-FCA8-4F9D532D99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19840" y="5139682"/>
                <a:ext cx="463325" cy="3385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1A99C121-DBB3-A762-9108-5A25849EB225}"/>
              </a:ext>
            </a:extLst>
          </p:cNvPr>
          <p:cNvSpPr txBox="1"/>
          <p:nvPr/>
        </p:nvSpPr>
        <p:spPr>
          <a:xfrm>
            <a:off x="6406016" y="3305555"/>
            <a:ext cx="139012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Post-synapse</a:t>
            </a:r>
          </a:p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neuron</a:t>
            </a:r>
            <a:endParaRPr lang="en-CA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116358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0" name="Table 59">
                <a:extLst>
                  <a:ext uri="{FF2B5EF4-FFF2-40B4-BE49-F238E27FC236}">
                    <a16:creationId xmlns:a16="http://schemas.microsoft.com/office/drawing/2014/main" id="{ADFE2CFD-3A56-6A33-34DE-EF73E7201C6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91878279"/>
                  </p:ext>
                </p:extLst>
              </p:nvPr>
            </p:nvGraphicFramePr>
            <p:xfrm>
              <a:off x="2092959" y="2468880"/>
              <a:ext cx="6858001" cy="192024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2560321">
                      <a:extLst>
                        <a:ext uri="{9D8B030D-6E8A-4147-A177-3AD203B41FA5}">
                          <a16:colId xmlns:a16="http://schemas.microsoft.com/office/drawing/2014/main" val="1533962202"/>
                        </a:ext>
                      </a:extLst>
                    </a:gridCol>
                    <a:gridCol w="4297680">
                      <a:extLst>
                        <a:ext uri="{9D8B030D-6E8A-4147-A177-3AD203B41FA5}">
                          <a16:colId xmlns:a16="http://schemas.microsoft.com/office/drawing/2014/main" val="2609863838"/>
                        </a:ext>
                      </a:extLst>
                    </a:gridCol>
                  </a:tblGrid>
                  <a:tr h="424586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CA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CA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Spike Response Function</a:t>
                          </a:r>
                        </a:p>
                      </a:txBody>
                      <a:tcPr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536084639"/>
                      </a:ext>
                    </a:extLst>
                  </a:tr>
                  <a:tr h="74782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CA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Pre-Neuron</a:t>
                          </a:r>
                        </a:p>
                      </a:txBody>
                      <a:tcPr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CA" sz="18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̇"/>
                                        <m:ctrlPr>
                                          <a:rPr lang="en-CA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CA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𝑉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8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CA" sz="18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CA" sz="18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CA" sz="1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en-CA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CA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𝜏</m:t>
                                        </m:r>
                                      </m:e>
                                      <m:sub>
                                        <m:r>
                                          <a:rPr lang="en-CA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𝑚</m:t>
                                        </m:r>
                                      </m:sub>
                                    </m:sSub>
                                  </m:den>
                                </m:f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CA" sz="18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CA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CA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𝐸</m:t>
                                        </m:r>
                                      </m:e>
                                      <m:sub>
                                        <m:r>
                                          <a:rPr lang="en-CA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𝐿</m:t>
                                        </m:r>
                                      </m:sub>
                                    </m:sSub>
                                    <m:r>
                                      <a:rPr lang="en-CA" sz="1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CA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CA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𝑉</m:t>
                                        </m:r>
                                      </m:e>
                                      <m:sub>
                                        <m:r>
                                          <a:rPr lang="en-US" sz="1800" b="0" i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CA" sz="1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b>
                                      <m:sSubPr>
                                        <m:ctrlPr>
                                          <a:rPr lang="en-CA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CA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𝑅</m:t>
                                        </m:r>
                                      </m:e>
                                      <m:sub>
                                        <m:r>
                                          <a:rPr lang="en-CA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𝑚</m:t>
                                        </m:r>
                                      </m:sub>
                                    </m:sSub>
                                    <m:r>
                                      <a:rPr lang="en-US" sz="1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CA" sz="180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919637769"/>
                      </a:ext>
                    </a:extLst>
                  </a:tr>
                  <a:tr h="74782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CA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Post-Neuron</a:t>
                          </a:r>
                        </a:p>
                      </a:txBody>
                      <a:tcPr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CA" sz="18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̇"/>
                                        <m:ctrlPr>
                                          <a:rPr lang="en-CA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CA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𝑉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CA" sz="18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CA" sz="18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CA" sz="1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en-CA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CA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𝜏</m:t>
                                        </m:r>
                                      </m:e>
                                      <m:sub>
                                        <m:r>
                                          <a:rPr lang="en-CA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𝑚</m:t>
                                        </m:r>
                                      </m:sub>
                                    </m:sSub>
                                  </m:den>
                                </m:f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CA" sz="18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CA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CA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𝐸</m:t>
                                        </m:r>
                                      </m:e>
                                      <m:sub>
                                        <m:r>
                                          <a:rPr lang="en-CA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𝐿</m:t>
                                        </m:r>
                                      </m:sub>
                                    </m:sSub>
                                    <m:r>
                                      <a:rPr lang="en-CA" sz="1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CA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CA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𝑉</m:t>
                                        </m:r>
                                      </m:e>
                                      <m:sub>
                                        <m:r>
                                          <a:rPr lang="en-US" sz="1800" b="0" i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CA" sz="1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b>
                                      <m:sSubPr>
                                        <m:ctrlPr>
                                          <a:rPr lang="en-CA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CA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𝑅</m:t>
                                        </m:r>
                                      </m:e>
                                      <m:sub>
                                        <m:r>
                                          <a:rPr lang="en-CA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𝑚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en-CA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𝑊</m:t>
                                        </m:r>
                                        <m:r>
                                          <a:rPr lang="en-CA" sz="1800" i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a:rPr lang="en-CA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𝛿</m:t>
                                        </m:r>
                                        <m:d>
                                          <m:dPr>
                                            <m:ctrlPr>
                                              <a:rPr lang="en-CA" sz="1800" i="1">
                                                <a:solidFill>
                                                  <a:schemeClr val="tx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CA" sz="1800" i="1">
                                                <a:solidFill>
                                                  <a:schemeClr val="tx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𝑡</m:t>
                                            </m:r>
                                            <m:r>
                                              <a:rPr lang="en-CA" sz="1800" i="0">
                                                <a:solidFill>
                                                  <a:schemeClr val="tx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  <m:sSub>
                                              <m:sSubPr>
                                                <m:ctrlPr>
                                                  <a:rPr lang="en-CA" sz="1800" i="1">
                                                    <a:solidFill>
                                                      <a:schemeClr val="tx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CA" sz="1800" i="1">
                                                    <a:solidFill>
                                                      <a:schemeClr val="tx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𝑡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1800" b="0" i="1" smtClean="0">
                                                    <a:solidFill>
                                                      <a:schemeClr val="tx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𝑝𝑟𝑒</m:t>
                                                </m:r>
                                              </m:sub>
                                            </m:sSub>
                                          </m:e>
                                        </m:d>
                                      </m:e>
                                    </m:d>
                                  </m:e>
                                </m:d>
                              </m:oMath>
                            </m:oMathPara>
                          </a14:m>
                          <a:endParaRPr lang="en-CA" sz="180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01792277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0" name="Table 59">
                <a:extLst>
                  <a:ext uri="{FF2B5EF4-FFF2-40B4-BE49-F238E27FC236}">
                    <a16:creationId xmlns:a16="http://schemas.microsoft.com/office/drawing/2014/main" id="{ADFE2CFD-3A56-6A33-34DE-EF73E7201C6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91878279"/>
                  </p:ext>
                </p:extLst>
              </p:nvPr>
            </p:nvGraphicFramePr>
            <p:xfrm>
              <a:off x="2092959" y="2468880"/>
              <a:ext cx="6858001" cy="192024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2560321">
                      <a:extLst>
                        <a:ext uri="{9D8B030D-6E8A-4147-A177-3AD203B41FA5}">
                          <a16:colId xmlns:a16="http://schemas.microsoft.com/office/drawing/2014/main" val="1533962202"/>
                        </a:ext>
                      </a:extLst>
                    </a:gridCol>
                    <a:gridCol w="4297680">
                      <a:extLst>
                        <a:ext uri="{9D8B030D-6E8A-4147-A177-3AD203B41FA5}">
                          <a16:colId xmlns:a16="http://schemas.microsoft.com/office/drawing/2014/main" val="2609863838"/>
                        </a:ext>
                      </a:extLst>
                    </a:gridCol>
                  </a:tblGrid>
                  <a:tr h="424586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CA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CA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Spike Response Function</a:t>
                          </a:r>
                        </a:p>
                      </a:txBody>
                      <a:tcPr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536084639"/>
                      </a:ext>
                    </a:extLst>
                  </a:tr>
                  <a:tr h="74782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CA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Pre-Neuron</a:t>
                          </a:r>
                        </a:p>
                      </a:txBody>
                      <a:tcPr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9490" t="-59016" r="-142" b="-10245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9637769"/>
                      </a:ext>
                    </a:extLst>
                  </a:tr>
                  <a:tr h="74782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CA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Post-Neuron</a:t>
                          </a:r>
                        </a:p>
                      </a:txBody>
                      <a:tcPr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9490" t="-157724" r="-142" b="-162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17922771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5031541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706</TotalTime>
  <Words>33</Words>
  <Application>Microsoft Office PowerPoint</Application>
  <PresentationFormat>Widescreen</PresentationFormat>
  <Paragraphs>19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Aptos</vt:lpstr>
      <vt:lpstr>Aptos Display</vt:lpstr>
      <vt:lpstr>Arial</vt:lpstr>
      <vt:lpstr>Cambria Math</vt:lpstr>
      <vt:lpstr>Times New Roman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Mohammad</dc:creator>
  <cp:lastModifiedBy>Mohammad</cp:lastModifiedBy>
  <cp:revision>15</cp:revision>
  <dcterms:created xsi:type="dcterms:W3CDTF">2024-07-11T15:14:31Z</dcterms:created>
  <dcterms:modified xsi:type="dcterms:W3CDTF">2024-07-24T23:08:57Z</dcterms:modified>
</cp:coreProperties>
</file>